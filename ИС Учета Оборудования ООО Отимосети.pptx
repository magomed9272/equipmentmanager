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embeddedFontLst>
    <p:embeddedFont>
      <p:font typeface="Inter" panose="020B0604020202020204" charset="0"/>
      <p:regular r:id="rId16"/>
      <p:bold r:id="rId17"/>
      <p:italic r:id="rId18"/>
      <p:boldItalic r:id="rId19"/>
    </p:embeddedFont>
    <p:embeddedFont>
      <p:font typeface="Montserrat" panose="020B0604020202020204" charset="-52"/>
      <p:regular r:id="rId20"/>
      <p:bold r:id="rId21"/>
      <p:italic r:id="rId22"/>
      <p:boldItalic r:id="rId23"/>
    </p:embeddedFont>
    <p:embeddedFont>
      <p:font typeface="Montserrat ExtraBold" panose="020B0604020202020204" charset="-52"/>
      <p:bold r:id="rId24"/>
      <p:boldItalic r:id="rId25"/>
    </p:embeddedFont>
    <p:embeddedFont>
      <p:font typeface="Calibri" panose="020F0502020204030204" pitchFamily="34" charset="0"/>
      <p:regular r:id="rId26"/>
      <p:bold r:id="rId27"/>
      <p:italic r:id="rId28"/>
      <p:boldItalic r:id="rId29"/>
    </p:embeddedFont>
    <p:embeddedFont>
      <p:font typeface="Inter Medium" panose="020B0604020202020204" charset="0"/>
      <p:regular r:id="rId30"/>
      <p:bold r:id="rId31"/>
      <p:italic r:id="rId32"/>
      <p:boldItalic r:id="rId33"/>
    </p:embeddedFont>
    <p:embeddedFont>
      <p:font typeface="Inter SemiBold" panose="020B0604020202020204" charset="0"/>
      <p:regular r:id="rId34"/>
      <p:bold r:id="rId35"/>
      <p:italic r:id="rId36"/>
      <p:bold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842D274-4329-4151-BC9B-36A22080198A}">
  <a:tblStyle styleId="{2842D274-4329-4151-BC9B-36A22080198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94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34" Type="http://schemas.openxmlformats.org/officeDocument/2006/relationships/font" Target="fonts/font19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3" Type="http://schemas.openxmlformats.org/officeDocument/2006/relationships/font" Target="fonts/font18.fntdata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font" Target="fonts/font14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32" Type="http://schemas.openxmlformats.org/officeDocument/2006/relationships/font" Target="fonts/font17.fntdata"/><Relationship Id="rId37" Type="http://schemas.openxmlformats.org/officeDocument/2006/relationships/font" Target="fonts/font22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36" Type="http://schemas.openxmlformats.org/officeDocument/2006/relationships/font" Target="fonts/font21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font" Target="fonts/font1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font" Target="fonts/font15.fntdata"/><Relationship Id="rId35" Type="http://schemas.openxmlformats.org/officeDocument/2006/relationships/font" Target="fonts/font2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3415508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143313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656355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581958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415139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138414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913358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71330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90781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321330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974188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984578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288156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731581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1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9750" y="4124176"/>
            <a:ext cx="8572500" cy="101917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4386262" y="1714648"/>
            <a:ext cx="34194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ОТЧЕТ ПО ПРОИЗВОДСТВЕННОЙ ПРАКТИКЕ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720453" y="1905148"/>
            <a:ext cx="8751000" cy="116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0" i="0" u="none" strike="noStrike" cap="none">
                <a:solidFill>
                  <a:srgbClr val="0F172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Разработка ИС учета оборудования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450" b="0" i="0" u="none" strike="noStrike" cap="none">
                <a:solidFill>
                  <a:srgbClr val="1D4ED8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для ООО "Оптим</a:t>
            </a:r>
            <a:r>
              <a:rPr lang="en-US" sz="3450">
                <a:solidFill>
                  <a:srgbClr val="1D4ED8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а</a:t>
            </a:r>
            <a:r>
              <a:rPr lang="en-US" sz="3450" b="0" i="0" u="none" strike="noStrike" cap="none">
                <a:solidFill>
                  <a:srgbClr val="1D4ED8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сет</a:t>
            </a:r>
            <a:r>
              <a:rPr lang="en-US" sz="3450">
                <a:solidFill>
                  <a:srgbClr val="1D4ED8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ь</a:t>
            </a:r>
            <a:r>
              <a:rPr lang="en-US" sz="3450" b="0" i="0" u="none" strike="noStrike" cap="none">
                <a:solidFill>
                  <a:srgbClr val="1D4ED8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"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2286000" y="3194595"/>
            <a:ext cx="76200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Создание кроссплатформенного программного модуля инвентаризации и контроля сетевого оборудования с локальным JSON-хранилищем на языке C#.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1809750" y="4409926"/>
            <a:ext cx="96202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rPr>
              <a:t>РАЗРАБОТЧИК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1809750" y="4600426"/>
            <a:ext cx="260345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3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Мусакадиев М. Г.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25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Группа И-СП-9-23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4794200" y="4409926"/>
            <a:ext cx="107632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rPr>
              <a:t>РУКОВОДИТЕЛЬ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4794200" y="4600426"/>
            <a:ext cx="2603450" cy="21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Магомедова М. Н.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7778650" y="4409926"/>
            <a:ext cx="99060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rPr>
              <a:t>ОРГАНИЗАЦИЯ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7778650" y="4600426"/>
            <a:ext cx="2603599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3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ЧПОУ "РПК"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25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г. Кизляр, 2026 г.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985962"/>
            <a:ext cx="533400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571500" y="2219325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D4ED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Организация рабочего места (СанПиН 1.2.3685-21):</a:t>
            </a:r>
            <a:endParaRPr/>
          </a:p>
        </p:txBody>
      </p:sp>
      <p:pic>
        <p:nvPicPr>
          <p:cNvPr id="102" name="Google Shape;102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96025" y="1995487"/>
            <a:ext cx="5314950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/>
        </p:nvSpPr>
        <p:spPr>
          <a:xfrm>
            <a:off x="952500" y="2590800"/>
            <a:ext cx="495300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Пространство:</a:t>
            </a:r>
            <a:r>
              <a:rPr lang="en-US" sz="127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Рабочая площадь оператора ПЭВМ должна составлять не менее 4,5 м².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952500" y="3286125"/>
            <a:ext cx="495300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Зрение:</a:t>
            </a:r>
            <a:r>
              <a:rPr lang="en-US" sz="127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Расстояние до монитора 60-70 см, оптимальная освещенность 300-500 люкс.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952500" y="3981450"/>
            <a:ext cx="495300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Режим труда:</a:t>
            </a:r>
            <a:r>
              <a:rPr lang="en-US" sz="127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Обязательный перерыв 5-10 минут после каждых 2 часов непрерывной работы.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952500" y="4676775"/>
            <a:ext cx="495300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Пожарная безопасность:</a:t>
            </a:r>
            <a:r>
              <a:rPr lang="en-US" sz="127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Использование углекислотных огнетушителей (ОУ-2, ОУ-5) в ИТ-отделе.</a:t>
            </a:r>
            <a:endParaRPr/>
          </a:p>
        </p:txBody>
      </p:sp>
      <p:pic>
        <p:nvPicPr>
          <p:cNvPr id="107" name="Google Shape;107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614612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3309937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400526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71500" y="4700587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4"/>
          <p:cNvSpPr txBox="1"/>
          <p:nvPr/>
        </p:nvSpPr>
        <p:spPr>
          <a:xfrm>
            <a:off x="571500" y="476250"/>
            <a:ext cx="1160145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0F172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Охрана труда и безопасность</a:t>
            </a:r>
            <a:endParaRPr/>
          </a:p>
        </p:txBody>
      </p:sp>
      <p:sp>
        <p:nvSpPr>
          <p:cNvPr id="112" name="Google Shape;112;p14"/>
          <p:cNvSpPr/>
          <p:nvPr/>
        </p:nvSpPr>
        <p:spPr>
          <a:xfrm>
            <a:off x="5810250" y="681037"/>
            <a:ext cx="571500" cy="381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985962"/>
            <a:ext cx="533400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 txBox="1"/>
          <p:nvPr/>
        </p:nvSpPr>
        <p:spPr>
          <a:xfrm>
            <a:off x="571500" y="2393156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D4ED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О предприятии (г. Кизляр):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571500" y="2736056"/>
            <a:ext cx="53340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Компания специализируется на поставке сложного сетевого оборудования, монтаже телекоммуникационных линий и обслуживании корпоративных ИТ-инфраструктур.</a:t>
            </a:r>
            <a:endParaRPr/>
          </a:p>
        </p:txBody>
      </p:sp>
      <p:pic>
        <p:nvPicPr>
          <p:cNvPr id="121" name="Google Shape;121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96025" y="1995487"/>
            <a:ext cx="5314950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952500" y="3564731"/>
            <a:ext cx="4953000" cy="728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Проблема:</a:t>
            </a:r>
            <a:r>
              <a:rPr lang="en-US" sz="127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Первоначально инвентарный учет велся в разрозненных таблицах Excel, что вызывало ошибки дублирования номеров.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952500" y="4502943"/>
            <a:ext cx="495300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Задача:</a:t>
            </a:r>
            <a:r>
              <a:rPr lang="en-US" sz="127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Автоматизировать регистрацию, редактирование, перемещение и списание оборудования ИТ-подразделения.</a:t>
            </a:r>
            <a:endParaRPr/>
          </a:p>
        </p:txBody>
      </p:sp>
      <p:pic>
        <p:nvPicPr>
          <p:cNvPr id="124" name="Google Shape;124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588543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526756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5"/>
          <p:cNvSpPr txBox="1"/>
          <p:nvPr/>
        </p:nvSpPr>
        <p:spPr>
          <a:xfrm>
            <a:off x="571500" y="476250"/>
            <a:ext cx="1160145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0F172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Характеристика ООО "Отимосети"</a:t>
            </a:r>
            <a:endParaRPr/>
          </a:p>
        </p:txBody>
      </p:sp>
      <p:sp>
        <p:nvSpPr>
          <p:cNvPr id="127" name="Google Shape;127;p15"/>
          <p:cNvSpPr/>
          <p:nvPr/>
        </p:nvSpPr>
        <p:spPr>
          <a:xfrm>
            <a:off x="5810250" y="681037"/>
            <a:ext cx="571500" cy="381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28825"/>
            <a:ext cx="11049000" cy="3533775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/>
          <p:cNvSpPr/>
          <p:nvPr/>
        </p:nvSpPr>
        <p:spPr>
          <a:xfrm>
            <a:off x="581025" y="2038350"/>
            <a:ext cx="11029950" cy="351472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5" name="Google Shape;135;p16"/>
          <p:cNvGraphicFramePr/>
          <p:nvPr/>
        </p:nvGraphicFramePr>
        <p:xfrm>
          <a:off x="581025" y="2038350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{2842D274-4329-4151-BC9B-36A22080198A}</a:tableStyleId>
              </a:tblPr>
              <a:tblGrid>
                <a:gridCol w="2757475"/>
                <a:gridCol w="4963425"/>
                <a:gridCol w="3309050"/>
              </a:tblGrid>
              <a:tr h="702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F172A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Наименование средств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F172A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Технические характеристики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F172A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Роль в проекте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</a:tr>
              <a:tr h="702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Рабочая станция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Процессор Intel Core i5, ОЗУ 16 ГБ, быстрый накопитель SSD 512 ГБ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Разработка, компиляция проекта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702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Операционная система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Microsoft Windows 11 Pro (Лицензионная)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Хост-платформа для WinForms-приложения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702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Внешнее оборудование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Сканер штрих-кодов Zebra DS2208, Принтер HP LaserJet Pro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Имитация конвейерного ввода инвентарных номеров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702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Инструменты разработчика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Visual Studio 2022 Community, Newtonsoft.Json, NUnit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Кодирование, сериализация в JSON, тестирование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36" name="Google Shape;136;p16"/>
          <p:cNvSpPr/>
          <p:nvPr/>
        </p:nvSpPr>
        <p:spPr>
          <a:xfrm>
            <a:off x="581025" y="2562225"/>
            <a:ext cx="2757487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6"/>
          <p:cNvSpPr/>
          <p:nvPr/>
        </p:nvSpPr>
        <p:spPr>
          <a:xfrm>
            <a:off x="3338512" y="2562225"/>
            <a:ext cx="4963417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6"/>
          <p:cNvSpPr/>
          <p:nvPr/>
        </p:nvSpPr>
        <p:spPr>
          <a:xfrm>
            <a:off x="8301930" y="2562225"/>
            <a:ext cx="3309044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6"/>
          <p:cNvSpPr/>
          <p:nvPr/>
        </p:nvSpPr>
        <p:spPr>
          <a:xfrm>
            <a:off x="581025" y="3319462"/>
            <a:ext cx="27574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6"/>
          <p:cNvSpPr/>
          <p:nvPr/>
        </p:nvSpPr>
        <p:spPr>
          <a:xfrm>
            <a:off x="3338512" y="3319462"/>
            <a:ext cx="49634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6"/>
          <p:cNvSpPr/>
          <p:nvPr/>
        </p:nvSpPr>
        <p:spPr>
          <a:xfrm>
            <a:off x="8301930" y="3319462"/>
            <a:ext cx="330904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581025" y="4062412"/>
            <a:ext cx="27574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6"/>
          <p:cNvSpPr/>
          <p:nvPr/>
        </p:nvSpPr>
        <p:spPr>
          <a:xfrm>
            <a:off x="3338512" y="4062412"/>
            <a:ext cx="49634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6"/>
          <p:cNvSpPr/>
          <p:nvPr/>
        </p:nvSpPr>
        <p:spPr>
          <a:xfrm>
            <a:off x="8301930" y="4062412"/>
            <a:ext cx="330904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6"/>
          <p:cNvSpPr/>
          <p:nvPr/>
        </p:nvSpPr>
        <p:spPr>
          <a:xfrm>
            <a:off x="581025" y="4805362"/>
            <a:ext cx="27574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6"/>
          <p:cNvSpPr/>
          <p:nvPr/>
        </p:nvSpPr>
        <p:spPr>
          <a:xfrm>
            <a:off x="3338512" y="4805362"/>
            <a:ext cx="49634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/>
          <p:nvPr/>
        </p:nvSpPr>
        <p:spPr>
          <a:xfrm>
            <a:off x="8301930" y="4805362"/>
            <a:ext cx="330904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 txBox="1"/>
          <p:nvPr/>
        </p:nvSpPr>
        <p:spPr>
          <a:xfrm>
            <a:off x="571500" y="476250"/>
            <a:ext cx="1160145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0F172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Окружение разработки модуля</a:t>
            </a:r>
            <a:endParaRPr/>
          </a:p>
        </p:txBody>
      </p:sp>
      <p:sp>
        <p:nvSpPr>
          <p:cNvPr id="149" name="Google Shape;149;p16"/>
          <p:cNvSpPr/>
          <p:nvPr/>
        </p:nvSpPr>
        <p:spPr>
          <a:xfrm>
            <a:off x="5810250" y="681037"/>
            <a:ext cx="571500" cy="381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95550"/>
            <a:ext cx="3492549" cy="2600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495550"/>
            <a:ext cx="3492549" cy="2600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495550"/>
            <a:ext cx="3492549" cy="2600325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7"/>
          <p:cNvSpPr txBox="1"/>
          <p:nvPr/>
        </p:nvSpPr>
        <p:spPr>
          <a:xfrm>
            <a:off x="866775" y="3400425"/>
            <a:ext cx="1980247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CRUD-Операции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866775" y="3771900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Возможность добавления, удаления и интерактивного редактирования учетных карточек сетевого оборудования в табличном виде.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4645074" y="3400425"/>
            <a:ext cx="192024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Поиск и фильтр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4645074" y="3771900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Мгновенный поиск по серийному номеру и интеллектуальная фильтрация строк по типу (ПК, роутер, сканер), статусу и кабинету.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8423374" y="3400425"/>
            <a:ext cx="2500312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Целостность данных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8423374" y="3771900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Обязательная проверка уникальности серийных номеров при записи и надежное автосохранение данных в локальный файл JSON.</a:t>
            </a:r>
            <a:endParaRPr/>
          </a:p>
        </p:txBody>
      </p:sp>
      <p:pic>
        <p:nvPicPr>
          <p:cNvPr id="164" name="Google Shape;164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2828925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45074" y="2828925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23374" y="2828925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7"/>
          <p:cNvSpPr txBox="1"/>
          <p:nvPr/>
        </p:nvSpPr>
        <p:spPr>
          <a:xfrm>
            <a:off x="571500" y="476250"/>
            <a:ext cx="1160145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0F172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Технические требования к системе</a:t>
            </a:r>
            <a:endParaRPr/>
          </a:p>
        </p:txBody>
      </p:sp>
      <p:sp>
        <p:nvSpPr>
          <p:cNvPr id="168" name="Google Shape;168;p17"/>
          <p:cNvSpPr/>
          <p:nvPr/>
        </p:nvSpPr>
        <p:spPr>
          <a:xfrm>
            <a:off x="5810250" y="681037"/>
            <a:ext cx="571500" cy="381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90787"/>
            <a:ext cx="5334000" cy="260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490787"/>
            <a:ext cx="5334000" cy="260985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8"/>
          <p:cNvSpPr txBox="1"/>
          <p:nvPr/>
        </p:nvSpPr>
        <p:spPr>
          <a:xfrm>
            <a:off x="866775" y="2786062"/>
            <a:ext cx="498062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D4ED8"/>
                </a:solidFill>
                <a:latin typeface="Montserrat"/>
                <a:ea typeface="Montserrat"/>
                <a:cs typeface="Montserrat"/>
                <a:sym typeface="Montserrat"/>
              </a:rPr>
              <a:t>Модуль Интерфейса</a:t>
            </a:r>
            <a:endParaRPr/>
          </a:p>
        </p:txBody>
      </p:sp>
      <p:sp>
        <p:nvSpPr>
          <p:cNvPr id="177" name="Google Shape;177;p18"/>
          <p:cNvSpPr txBox="1"/>
          <p:nvPr/>
        </p:nvSpPr>
        <p:spPr>
          <a:xfrm>
            <a:off x="866775" y="3205162"/>
            <a:ext cx="47434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MainForm.cs</a:t>
            </a: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— главная панель оператора, содержащая управляющие элементы Grid, текстовый поиск и агрегацию числовой статистики (общая цена оборудования в резерве/ремонте).</a:t>
            </a:r>
            <a:endParaRPr/>
          </a:p>
        </p:txBody>
      </p:sp>
      <p:sp>
        <p:nvSpPr>
          <p:cNvPr id="178" name="Google Shape;178;p18"/>
          <p:cNvSpPr txBox="1"/>
          <p:nvPr/>
        </p:nvSpPr>
        <p:spPr>
          <a:xfrm>
            <a:off x="866775" y="4233862"/>
            <a:ext cx="47434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EquipmentForm.cs</a:t>
            </a: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— модальная форма ввода с обязательной валидацией полей (контроль пустого ввода и формата даты).</a:t>
            </a:r>
            <a:endParaRPr/>
          </a:p>
        </p:txBody>
      </p:sp>
      <p:sp>
        <p:nvSpPr>
          <p:cNvPr id="179" name="Google Shape;179;p18"/>
          <p:cNvSpPr txBox="1"/>
          <p:nvPr/>
        </p:nvSpPr>
        <p:spPr>
          <a:xfrm>
            <a:off x="6581775" y="2786062"/>
            <a:ext cx="498062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D4ED8"/>
                </a:solidFill>
                <a:latin typeface="Montserrat"/>
                <a:ea typeface="Montserrat"/>
                <a:cs typeface="Montserrat"/>
                <a:sym typeface="Montserrat"/>
              </a:rPr>
              <a:t>Модуль Хранения и DLL</a:t>
            </a:r>
            <a:endParaRPr/>
          </a:p>
        </p:txBody>
      </p:sp>
      <p:sp>
        <p:nvSpPr>
          <p:cNvPr id="180" name="Google Shape;180;p18"/>
          <p:cNvSpPr txBox="1"/>
          <p:nvPr/>
        </p:nvSpPr>
        <p:spPr>
          <a:xfrm>
            <a:off x="6581775" y="3205162"/>
            <a:ext cx="47434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EquipmentLibrary.dll</a:t>
            </a: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— библиотека классов, инкапсулирующая основные бизнес-сущности и снижающая зацепление кода.</a:t>
            </a:r>
            <a:endParaRPr/>
          </a:p>
        </p:txBody>
      </p:sp>
      <p:sp>
        <p:nvSpPr>
          <p:cNvPr id="181" name="Google Shape;181;p18"/>
          <p:cNvSpPr txBox="1"/>
          <p:nvPr/>
        </p:nvSpPr>
        <p:spPr>
          <a:xfrm>
            <a:off x="6581775" y="3776662"/>
            <a:ext cx="47434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equipment.json</a:t>
            </a: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— текстовая база данных. Локальное хранилище гарантирует автономность работы программы на точках инвентаризации.</a:t>
            </a:r>
            <a:endParaRPr/>
          </a:p>
        </p:txBody>
      </p:sp>
      <p:sp>
        <p:nvSpPr>
          <p:cNvPr id="182" name="Google Shape;182;p18"/>
          <p:cNvSpPr txBox="1"/>
          <p:nvPr/>
        </p:nvSpPr>
        <p:spPr>
          <a:xfrm>
            <a:off x="571500" y="476250"/>
            <a:ext cx="1160145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0F172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Архитектура программного модуля</a:t>
            </a:r>
            <a:endParaRPr/>
          </a:p>
        </p:txBody>
      </p:sp>
      <p:sp>
        <p:nvSpPr>
          <p:cNvPr id="183" name="Google Shape;183;p18"/>
          <p:cNvSpPr/>
          <p:nvPr/>
        </p:nvSpPr>
        <p:spPr>
          <a:xfrm>
            <a:off x="5810250" y="681037"/>
            <a:ext cx="571500" cy="381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9"/>
          <p:cNvSpPr txBox="1"/>
          <p:nvPr/>
        </p:nvSpPr>
        <p:spPr>
          <a:xfrm>
            <a:off x="952500" y="2752725"/>
            <a:ext cx="1066800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Свойства сущности Equipment:</a:t>
            </a:r>
            <a:r>
              <a:rPr lang="en-US" sz="127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Уникальный числовой Id, наименование Name, модель Model, серийный номер SerialNumber, тип Type, текущий статус Status, дата закупки PurchaseDate и цена Price.</a:t>
            </a:r>
            <a:endParaRPr/>
          </a:p>
        </p:txBody>
      </p:sp>
      <p:sp>
        <p:nvSpPr>
          <p:cNvPr id="190" name="Google Shape;190;p19"/>
          <p:cNvSpPr txBox="1"/>
          <p:nvPr/>
        </p:nvSpPr>
        <p:spPr>
          <a:xfrm>
            <a:off x="952500" y="3448050"/>
            <a:ext cx="1066800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Спецификация входа:</a:t>
            </a:r>
            <a:r>
              <a:rPr lang="en-US" sz="127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Валидатор проверяет, чтобы название содержало от 1 до 100 символов, серийный номер был уникальным в рамках файла JSON, а цена — строго неотрицательным десятичным числом (Decimal).</a:t>
            </a:r>
            <a:endParaRPr/>
          </a:p>
        </p:txBody>
      </p:sp>
      <p:sp>
        <p:nvSpPr>
          <p:cNvPr id="191" name="Google Shape;191;p19"/>
          <p:cNvSpPr txBox="1"/>
          <p:nvPr/>
        </p:nvSpPr>
        <p:spPr>
          <a:xfrm>
            <a:off x="952500" y="4143375"/>
            <a:ext cx="1066800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Формат сохранения (JSON):</a:t>
            </a:r>
            <a:r>
              <a:rPr lang="en-US" sz="127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Структурированные узлы объектов с сериализацией перечислений EquipmentType (0 - Компьютер, 1 - Ноутбук, 2 - Принтер и др.) и EquipmentStatus (в работе, резерв).</a:t>
            </a:r>
            <a:endParaRPr/>
          </a:p>
        </p:txBody>
      </p:sp>
      <p:pic>
        <p:nvPicPr>
          <p:cNvPr id="192" name="Google Shape;192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776537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471862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167187"/>
            <a:ext cx="14287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9"/>
          <p:cNvSpPr txBox="1"/>
          <p:nvPr/>
        </p:nvSpPr>
        <p:spPr>
          <a:xfrm>
            <a:off x="571500" y="476250"/>
            <a:ext cx="1160145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0F172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Спецификация структуры данных</a:t>
            </a:r>
            <a:endParaRPr/>
          </a:p>
        </p:txBody>
      </p:sp>
      <p:sp>
        <p:nvSpPr>
          <p:cNvPr id="196" name="Google Shape;196;p19"/>
          <p:cNvSpPr/>
          <p:nvPr/>
        </p:nvSpPr>
        <p:spPr>
          <a:xfrm>
            <a:off x="5810250" y="681037"/>
            <a:ext cx="571500" cy="381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985962"/>
            <a:ext cx="533400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0"/>
          <p:cNvSpPr txBox="1"/>
          <p:nvPr/>
        </p:nvSpPr>
        <p:spPr>
          <a:xfrm>
            <a:off x="571500" y="2681287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D4ED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Выбор платформы разработки:</a:t>
            </a:r>
            <a:endParaRPr/>
          </a:p>
        </p:txBody>
      </p:sp>
      <p:sp>
        <p:nvSpPr>
          <p:cNvPr id="204" name="Google Shape;204;p20"/>
          <p:cNvSpPr txBox="1"/>
          <p:nvPr/>
        </p:nvSpPr>
        <p:spPr>
          <a:xfrm>
            <a:off x="571500" y="2986087"/>
            <a:ext cx="533400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Использование </a:t>
            </a:r>
            <a:r>
              <a:rPr lang="en-US" sz="1125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C# 10.0 + .NET 6.0 + Windows Forms</a:t>
            </a:r>
            <a:r>
              <a:rPr lang="en-US" sz="11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обусловлено высокой скоростью рендеринга и встроенными компонентами GUI.</a:t>
            </a:r>
            <a:endParaRPr/>
          </a:p>
        </p:txBody>
      </p:sp>
      <p:sp>
        <p:nvSpPr>
          <p:cNvPr id="205" name="Google Shape;205;p20"/>
          <p:cNvSpPr txBox="1"/>
          <p:nvPr/>
        </p:nvSpPr>
        <p:spPr>
          <a:xfrm>
            <a:off x="571500" y="3557587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D4ED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Проверка уникальности номера (BtnSave_Click):</a:t>
            </a:r>
            <a:endParaRPr/>
          </a:p>
        </p:txBody>
      </p:sp>
      <p:sp>
        <p:nvSpPr>
          <p:cNvPr id="206" name="Google Shape;206;p20"/>
          <p:cNvSpPr txBox="1"/>
          <p:nvPr/>
        </p:nvSpPr>
        <p:spPr>
          <a:xfrm>
            <a:off x="571500" y="476250"/>
            <a:ext cx="1160145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0F172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Реализация бизнес-логики на C#</a:t>
            </a:r>
            <a:endParaRPr/>
          </a:p>
        </p:txBody>
      </p:sp>
      <p:sp>
        <p:nvSpPr>
          <p:cNvPr id="207" name="Google Shape;207;p20"/>
          <p:cNvSpPr/>
          <p:nvPr/>
        </p:nvSpPr>
        <p:spPr>
          <a:xfrm>
            <a:off x="5810250" y="681037"/>
            <a:ext cx="571500" cy="381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8" name="Google Shape;208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75713" y="1443813"/>
            <a:ext cx="5955575" cy="397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81250"/>
            <a:ext cx="3492549" cy="2828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381250"/>
            <a:ext cx="3492549" cy="2828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381250"/>
            <a:ext cx="3492549" cy="2828925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1"/>
          <p:cNvSpPr txBox="1"/>
          <p:nvPr/>
        </p:nvSpPr>
        <p:spPr>
          <a:xfrm>
            <a:off x="866775" y="3286125"/>
            <a:ext cx="1890236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Сборка проекта</a:t>
            </a:r>
            <a:endParaRPr/>
          </a:p>
        </p:txBody>
      </p:sp>
      <p:sp>
        <p:nvSpPr>
          <p:cNvPr id="218" name="Google Shape;218;p21"/>
          <p:cNvSpPr txBox="1"/>
          <p:nvPr/>
        </p:nvSpPr>
        <p:spPr>
          <a:xfrm>
            <a:off x="866775" y="3657600"/>
            <a:ext cx="2901999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Успешная сборка через Rebuild Solution компилятором MSBuild. Получены исполняемый файл приложения .exe и переносимая библиотека ядра .dll.</a:t>
            </a:r>
            <a:endParaRPr/>
          </a:p>
        </p:txBody>
      </p:sp>
      <p:sp>
        <p:nvSpPr>
          <p:cNvPr id="219" name="Google Shape;219;p21"/>
          <p:cNvSpPr txBox="1"/>
          <p:nvPr/>
        </p:nvSpPr>
        <p:spPr>
          <a:xfrm>
            <a:off x="4645074" y="3286125"/>
            <a:ext cx="1850231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Точки останова</a:t>
            </a:r>
            <a:endParaRPr/>
          </a:p>
        </p:txBody>
      </p:sp>
      <p:sp>
        <p:nvSpPr>
          <p:cNvPr id="220" name="Google Shape;220;p21"/>
          <p:cNvSpPr txBox="1"/>
          <p:nvPr/>
        </p:nvSpPr>
        <p:spPr>
          <a:xfrm>
            <a:off x="4645074" y="3657600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Установка Breakpoints в контроллере загрузки JSON. Проверена обработка исключений при повреждении структуры файла БД.</a:t>
            </a:r>
            <a:endParaRPr/>
          </a:p>
        </p:txBody>
      </p:sp>
      <p:sp>
        <p:nvSpPr>
          <p:cNvPr id="221" name="Google Shape;221;p21"/>
          <p:cNvSpPr txBox="1"/>
          <p:nvPr/>
        </p:nvSpPr>
        <p:spPr>
          <a:xfrm>
            <a:off x="8423374" y="3286125"/>
            <a:ext cx="1540192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Трассировка</a:t>
            </a:r>
            <a:endParaRPr/>
          </a:p>
        </p:txBody>
      </p:sp>
      <p:sp>
        <p:nvSpPr>
          <p:cNvPr id="222" name="Google Shape;222;p21"/>
          <p:cNvSpPr txBox="1"/>
          <p:nvPr/>
        </p:nvSpPr>
        <p:spPr>
          <a:xfrm>
            <a:off x="8423374" y="3657600"/>
            <a:ext cx="2901999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Пошаговое отслеживание переменных с помощью клавиш F10/F11 при проверке валидации полей во время добавления нового оборудования.</a:t>
            </a:r>
            <a:endParaRPr/>
          </a:p>
        </p:txBody>
      </p:sp>
      <p:pic>
        <p:nvPicPr>
          <p:cNvPr id="223" name="Google Shape;223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2714625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45074" y="2714625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1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23374" y="2714625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1"/>
          <p:cNvSpPr txBox="1"/>
          <p:nvPr/>
        </p:nvSpPr>
        <p:spPr>
          <a:xfrm>
            <a:off x="571500" y="476250"/>
            <a:ext cx="1160145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0F172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Компиляция и отладка модуля</a:t>
            </a:r>
            <a:endParaRPr/>
          </a:p>
        </p:txBody>
      </p:sp>
      <p:sp>
        <p:nvSpPr>
          <p:cNvPr id="227" name="Google Shape;227;p21"/>
          <p:cNvSpPr/>
          <p:nvPr/>
        </p:nvSpPr>
        <p:spPr>
          <a:xfrm>
            <a:off x="5810250" y="681037"/>
            <a:ext cx="571500" cy="381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32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57450"/>
            <a:ext cx="11049000" cy="2676525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2"/>
          <p:cNvSpPr/>
          <p:nvPr/>
        </p:nvSpPr>
        <p:spPr>
          <a:xfrm>
            <a:off x="581025" y="2466975"/>
            <a:ext cx="11029950" cy="265747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35" name="Google Shape;235;p22"/>
          <p:cNvGraphicFramePr/>
          <p:nvPr/>
        </p:nvGraphicFramePr>
        <p:xfrm>
          <a:off x="581025" y="2466975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{2842D274-4329-4151-BC9B-36A22080198A}</a:tableStyleId>
              </a:tblPr>
              <a:tblGrid>
                <a:gridCol w="1102975"/>
                <a:gridCol w="3860450"/>
                <a:gridCol w="3860450"/>
                <a:gridCol w="2206075"/>
              </a:tblGrid>
              <a:tr h="531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F172A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F172A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Сценарий ручного теста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F172A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Ожидаемый результат валидации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F172A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Результат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</a:tr>
              <a:tr h="531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TC-1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Добавление оборудования с валидным SN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Запись добавляется, файл обновляется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>
                          <a:solidFill>
                            <a:srgbClr val="0D948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Выполнено</a:t>
                      </a:r>
                      <a:endParaRPr/>
                    </a:p>
                  </a:txBody>
                  <a:tcPr marL="238125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31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TC-2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Добавление без названия (пустая строка)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Блокировка сохранения, MessageBox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>
                          <a:solidFill>
                            <a:srgbClr val="0D948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Выполнено</a:t>
                      </a:r>
                      <a:endParaRPr/>
                    </a:p>
                  </a:txBody>
                  <a:tcPr marL="238125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31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TC-3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Добавление дубликата серийного номера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Ошибка валидации уникальности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>
                          <a:solidFill>
                            <a:srgbClr val="0D948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Выполнено</a:t>
                      </a:r>
                      <a:endParaRPr/>
                    </a:p>
                  </a:txBody>
                  <a:tcPr marL="238125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31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TC-4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Тест репозитория через NUnit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Успешный проход Assert.IsNotNull()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>
                          <a:solidFill>
                            <a:srgbClr val="0D948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Выполнено</a:t>
                      </a:r>
                      <a:endParaRPr/>
                    </a:p>
                  </a:txBody>
                  <a:tcPr marL="238125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36" name="Google Shape;236;p22"/>
          <p:cNvSpPr/>
          <p:nvPr/>
        </p:nvSpPr>
        <p:spPr>
          <a:xfrm>
            <a:off x="581025" y="2990850"/>
            <a:ext cx="110296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2"/>
          <p:cNvSpPr/>
          <p:nvPr/>
        </p:nvSpPr>
        <p:spPr>
          <a:xfrm>
            <a:off x="1683990" y="2990850"/>
            <a:ext cx="3860452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2"/>
          <p:cNvSpPr/>
          <p:nvPr/>
        </p:nvSpPr>
        <p:spPr>
          <a:xfrm>
            <a:off x="5544442" y="2990850"/>
            <a:ext cx="3860452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2"/>
          <p:cNvSpPr/>
          <p:nvPr/>
        </p:nvSpPr>
        <p:spPr>
          <a:xfrm>
            <a:off x="9404895" y="2990850"/>
            <a:ext cx="2206079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2"/>
          <p:cNvSpPr/>
          <p:nvPr/>
        </p:nvSpPr>
        <p:spPr>
          <a:xfrm>
            <a:off x="581025" y="3533775"/>
            <a:ext cx="110296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2"/>
          <p:cNvSpPr/>
          <p:nvPr/>
        </p:nvSpPr>
        <p:spPr>
          <a:xfrm>
            <a:off x="1683990" y="3533775"/>
            <a:ext cx="386045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2"/>
          <p:cNvSpPr/>
          <p:nvPr/>
        </p:nvSpPr>
        <p:spPr>
          <a:xfrm>
            <a:off x="5544442" y="3533775"/>
            <a:ext cx="386045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2"/>
          <p:cNvSpPr/>
          <p:nvPr/>
        </p:nvSpPr>
        <p:spPr>
          <a:xfrm>
            <a:off x="9404895" y="3533775"/>
            <a:ext cx="220607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2"/>
          <p:cNvSpPr/>
          <p:nvPr/>
        </p:nvSpPr>
        <p:spPr>
          <a:xfrm>
            <a:off x="581025" y="4062412"/>
            <a:ext cx="110296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2"/>
          <p:cNvSpPr/>
          <p:nvPr/>
        </p:nvSpPr>
        <p:spPr>
          <a:xfrm>
            <a:off x="1683990" y="4062412"/>
            <a:ext cx="386045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2"/>
          <p:cNvSpPr/>
          <p:nvPr/>
        </p:nvSpPr>
        <p:spPr>
          <a:xfrm>
            <a:off x="5544442" y="4062412"/>
            <a:ext cx="386045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2"/>
          <p:cNvSpPr/>
          <p:nvPr/>
        </p:nvSpPr>
        <p:spPr>
          <a:xfrm>
            <a:off x="9404895" y="4062412"/>
            <a:ext cx="220607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2"/>
          <p:cNvSpPr/>
          <p:nvPr/>
        </p:nvSpPr>
        <p:spPr>
          <a:xfrm>
            <a:off x="581025" y="4591050"/>
            <a:ext cx="110296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2"/>
          <p:cNvSpPr/>
          <p:nvPr/>
        </p:nvSpPr>
        <p:spPr>
          <a:xfrm>
            <a:off x="1683990" y="4591050"/>
            <a:ext cx="386045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2"/>
          <p:cNvSpPr/>
          <p:nvPr/>
        </p:nvSpPr>
        <p:spPr>
          <a:xfrm>
            <a:off x="5544442" y="4591050"/>
            <a:ext cx="386045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2"/>
          <p:cNvSpPr/>
          <p:nvPr/>
        </p:nvSpPr>
        <p:spPr>
          <a:xfrm>
            <a:off x="9404895" y="4591050"/>
            <a:ext cx="220607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2" name="Google Shape;252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595395" y="4786312"/>
            <a:ext cx="1238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595395" y="3729037"/>
            <a:ext cx="1238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595395" y="3200400"/>
            <a:ext cx="1238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595395" y="4257675"/>
            <a:ext cx="1238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595395" y="3200400"/>
            <a:ext cx="1238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595395" y="3729037"/>
            <a:ext cx="1238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595395" y="4257675"/>
            <a:ext cx="1238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595395" y="4786312"/>
            <a:ext cx="12382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2"/>
          <p:cNvSpPr txBox="1"/>
          <p:nvPr/>
        </p:nvSpPr>
        <p:spPr>
          <a:xfrm>
            <a:off x="571500" y="476250"/>
            <a:ext cx="1160145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0F172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Проведенное тестирование модуля</a:t>
            </a:r>
            <a:endParaRPr/>
          </a:p>
        </p:txBody>
      </p:sp>
      <p:sp>
        <p:nvSpPr>
          <p:cNvPr id="261" name="Google Shape;261;p22"/>
          <p:cNvSpPr/>
          <p:nvPr/>
        </p:nvSpPr>
        <p:spPr>
          <a:xfrm>
            <a:off x="5810250" y="681037"/>
            <a:ext cx="571500" cy="381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209675"/>
            <a:ext cx="11049000" cy="5172075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3"/>
          <p:cNvSpPr txBox="1"/>
          <p:nvPr/>
        </p:nvSpPr>
        <p:spPr>
          <a:xfrm>
            <a:off x="571500" y="4533900"/>
            <a:ext cx="1104900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1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Проведенные замеры с использованием класса Stopwatch подтверждают применимость JSON-хранилища для быстрого отклика ПО при инвентаризации средних ИТ-парков (размер БД ~50 КБ).</a:t>
            </a:r>
            <a:endParaRPr/>
          </a:p>
        </p:txBody>
      </p:sp>
      <p:sp>
        <p:nvSpPr>
          <p:cNvPr id="269" name="Google Shape;269;p23"/>
          <p:cNvSpPr txBox="1"/>
          <p:nvPr/>
        </p:nvSpPr>
        <p:spPr>
          <a:xfrm>
            <a:off x="571500" y="476250"/>
            <a:ext cx="1160145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0F172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Производительность (1000 записей)</a:t>
            </a:r>
            <a:endParaRPr/>
          </a:p>
        </p:txBody>
      </p:sp>
      <p:sp>
        <p:nvSpPr>
          <p:cNvPr id="270" name="Google Shape;270;p23"/>
          <p:cNvSpPr/>
          <p:nvPr/>
        </p:nvSpPr>
        <p:spPr>
          <a:xfrm>
            <a:off x="5810250" y="681037"/>
            <a:ext cx="571500" cy="381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" name="Google Shape;275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74118"/>
            <a:ext cx="5334000" cy="26431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474118"/>
            <a:ext cx="5334000" cy="2643187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4"/>
          <p:cNvSpPr txBox="1"/>
          <p:nvPr/>
        </p:nvSpPr>
        <p:spPr>
          <a:xfrm>
            <a:off x="866775" y="2769393"/>
            <a:ext cx="498062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D4ED8"/>
                </a:solidFill>
                <a:latin typeface="Montserrat"/>
                <a:ea typeface="Montserrat"/>
                <a:cs typeface="Montserrat"/>
                <a:sym typeface="Montserrat"/>
              </a:rPr>
              <a:t>Результаты внедрения ИС</a:t>
            </a:r>
            <a:endParaRPr/>
          </a:p>
        </p:txBody>
      </p:sp>
      <p:sp>
        <p:nvSpPr>
          <p:cNvPr id="279" name="Google Shape;279;p24"/>
          <p:cNvSpPr txBox="1"/>
          <p:nvPr/>
        </p:nvSpPr>
        <p:spPr>
          <a:xfrm>
            <a:off x="6581775" y="2769393"/>
            <a:ext cx="498062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D4ED8"/>
                </a:solidFill>
                <a:latin typeface="Montserrat"/>
                <a:ea typeface="Montserrat"/>
                <a:cs typeface="Montserrat"/>
                <a:sym typeface="Montserrat"/>
              </a:rPr>
              <a:t>Учебные достижения</a:t>
            </a:r>
            <a:endParaRPr/>
          </a:p>
        </p:txBody>
      </p:sp>
      <p:sp>
        <p:nvSpPr>
          <p:cNvPr id="280" name="Google Shape;280;p24"/>
          <p:cNvSpPr txBox="1"/>
          <p:nvPr/>
        </p:nvSpPr>
        <p:spPr>
          <a:xfrm>
            <a:off x="1247775" y="3188493"/>
            <a:ext cx="4362450" cy="728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Полностью ликвидирован риск дублирования данных на складе за счет сквозной программной валидации серийных номеров.</a:t>
            </a:r>
            <a:endParaRPr/>
          </a:p>
        </p:txBody>
      </p:sp>
      <p:sp>
        <p:nvSpPr>
          <p:cNvPr id="281" name="Google Shape;281;p24"/>
          <p:cNvSpPr txBox="1"/>
          <p:nvPr/>
        </p:nvSpPr>
        <p:spPr>
          <a:xfrm>
            <a:off x="1247775" y="4126706"/>
            <a:ext cx="43624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Внедрен интерактивный сбор статистики об общей балансовой стоимости оборудования предприятия.</a:t>
            </a:r>
            <a:endParaRPr/>
          </a:p>
        </p:txBody>
      </p:sp>
      <p:sp>
        <p:nvSpPr>
          <p:cNvPr id="282" name="Google Shape;282;p24"/>
          <p:cNvSpPr txBox="1"/>
          <p:nvPr/>
        </p:nvSpPr>
        <p:spPr>
          <a:xfrm>
            <a:off x="6962775" y="3188493"/>
            <a:ext cx="43624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Освоены паттерны разделения кода на переносимые библиотеки (.dll) и графические формы WinForms.</a:t>
            </a:r>
            <a:endParaRPr/>
          </a:p>
        </p:txBody>
      </p:sp>
      <p:sp>
        <p:nvSpPr>
          <p:cNvPr id="283" name="Google Shape;283;p24"/>
          <p:cNvSpPr txBox="1"/>
          <p:nvPr/>
        </p:nvSpPr>
        <p:spPr>
          <a:xfrm>
            <a:off x="6962775" y="3883818"/>
            <a:ext cx="43624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Весь исходный код выгружен в публичный git-репозиторий GitHub для версионирования.</a:t>
            </a:r>
            <a:endParaRPr/>
          </a:p>
        </p:txBody>
      </p:sp>
      <p:pic>
        <p:nvPicPr>
          <p:cNvPr id="284" name="Google Shape;284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6775" y="3212306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6775" y="4150518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81775" y="3212306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81775" y="3907631"/>
            <a:ext cx="21907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4"/>
          <p:cNvSpPr txBox="1"/>
          <p:nvPr/>
        </p:nvSpPr>
        <p:spPr>
          <a:xfrm>
            <a:off x="571500" y="476250"/>
            <a:ext cx="1160145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0F172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Заключение и выводы практики</a:t>
            </a:r>
            <a:endParaRPr/>
          </a:p>
        </p:txBody>
      </p:sp>
      <p:sp>
        <p:nvSpPr>
          <p:cNvPr id="289" name="Google Shape;289;p24"/>
          <p:cNvSpPr/>
          <p:nvPr/>
        </p:nvSpPr>
        <p:spPr>
          <a:xfrm>
            <a:off x="5810250" y="681037"/>
            <a:ext cx="571500" cy="381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4" name="Google Shape;294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25"/>
          <p:cNvSpPr txBox="1"/>
          <p:nvPr/>
        </p:nvSpPr>
        <p:spPr>
          <a:xfrm>
            <a:off x="1735455" y="2452687"/>
            <a:ext cx="872109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1D4ED8"/>
                </a:solidFill>
                <a:latin typeface="Montserrat"/>
                <a:ea typeface="Montserrat"/>
                <a:cs typeface="Montserrat"/>
                <a:sym typeface="Montserrat"/>
              </a:rPr>
              <a:t>Спасибо за внимание!</a:t>
            </a:r>
            <a:endParaRPr/>
          </a:p>
        </p:txBody>
      </p:sp>
      <p:sp>
        <p:nvSpPr>
          <p:cNvPr id="296" name="Google Shape;296;p25"/>
          <p:cNvSpPr txBox="1"/>
          <p:nvPr/>
        </p:nvSpPr>
        <p:spPr>
          <a:xfrm>
            <a:off x="1943100" y="3481387"/>
            <a:ext cx="8305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F172A"/>
                </a:solidFill>
                <a:latin typeface="Inter Medium"/>
                <a:ea typeface="Inter Medium"/>
                <a:cs typeface="Inter Medium"/>
                <a:sym typeface="Inter Medium"/>
              </a:rPr>
              <a:t>Готов ответить на ваши вопросы по программному модулю</a:t>
            </a:r>
            <a:endParaRPr/>
          </a:p>
        </p:txBody>
      </p:sp>
      <p:sp>
        <p:nvSpPr>
          <p:cNvPr id="297" name="Google Shape;297;p25"/>
          <p:cNvSpPr txBox="1"/>
          <p:nvPr/>
        </p:nvSpPr>
        <p:spPr>
          <a:xfrm>
            <a:off x="1943100" y="4205287"/>
            <a:ext cx="83058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D948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Разработчик: Мусакадиев М. Г. • Репозиторий: github.com/Magomed9272/EquipmentManager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751</Words>
  <Application>Microsoft Office PowerPoint</Application>
  <PresentationFormat>Широкоэкранный</PresentationFormat>
  <Paragraphs>98</Paragraphs>
  <Slides>13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21" baseType="lpstr">
      <vt:lpstr>Arial</vt:lpstr>
      <vt:lpstr>Inter</vt:lpstr>
      <vt:lpstr>Montserrat</vt:lpstr>
      <vt:lpstr>Montserrat ExtraBold</vt:lpstr>
      <vt:lpstr>Calibri</vt:lpstr>
      <vt:lpstr>Inter Medium</vt:lpstr>
      <vt:lpstr>Inter SemiBold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rpk2024.7</cp:lastModifiedBy>
  <cp:revision>1</cp:revision>
  <dcterms:modified xsi:type="dcterms:W3CDTF">2026-06-02T11:49:42Z</dcterms:modified>
</cp:coreProperties>
</file>